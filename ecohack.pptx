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7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6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0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5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0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9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7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4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3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385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74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7804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31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7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2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DF8C64B-81CE-B149-765E-E19C62061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993" y="0"/>
            <a:ext cx="50870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18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7320E-2DD9-D847-2E9A-436F800E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Problemáticas/Desafios: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6CA25E-6750-8D51-2F8E-A2DBD2C32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65737"/>
            <a:ext cx="11155680" cy="4918841"/>
          </a:xfrm>
        </p:spPr>
        <p:txBody>
          <a:bodyPr>
            <a:normAutofit fontScale="92500" lnSpcReduction="10000"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r>
              <a:rPr lang="pt-BR" sz="2800" b="1" dirty="0">
                <a:latin typeface="Lato"/>
                <a:ea typeface="Lato"/>
                <a:cs typeface="Lato"/>
                <a:sym typeface="Lato"/>
              </a:rPr>
              <a:t>Desafio Básico, nível I (Estudantes da 1º Série) </a:t>
            </a: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- Criar campanha de manejo sustentável e combate a incêndios para reduzir as queimadas na vegetação Maranhense.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endParaRPr lang="pt-BR" sz="28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r>
              <a:rPr lang="pt-BR" sz="2800" b="1" dirty="0">
                <a:latin typeface="Lato"/>
                <a:ea typeface="Lato"/>
                <a:cs typeface="Lato"/>
                <a:sym typeface="Lato"/>
              </a:rPr>
              <a:t>Desafio Intermediário, nível II (Estudantes da 2º Série)</a:t>
            </a: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 – Esquematizar um sistema aplicável para transformar a escola em um ambiente sustentável, que minimize os impactos ambientais tais como: reaproveitamento de resíduos sólidos e descartes inadequados. 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endParaRPr lang="pt-BR" sz="2800" dirty="0">
              <a:latin typeface="Lato"/>
              <a:ea typeface="Lato"/>
              <a:cs typeface="Lato"/>
              <a:sym typeface="Lato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r>
              <a:rPr lang="pt-BR" sz="2800" b="1" dirty="0">
                <a:latin typeface="Lato"/>
                <a:ea typeface="Lato"/>
                <a:cs typeface="Lato"/>
                <a:sym typeface="Lato"/>
              </a:rPr>
              <a:t>Desafio Avançado, nível III – (Estudantes da 3º Série) </a:t>
            </a: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- Desenvolver uma simulação que esquematize o efeito estufa e suas diferenças em relação ao aquecimento global, destacando os processos envolvidos e as consequências de cada fenômeno para o clima da Terra.</a:t>
            </a: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endParaRPr lang="pt-BR" dirty="0">
              <a:solidFill>
                <a:srgbClr val="2E75B5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endParaRPr lang="pt-BR" dirty="0">
              <a:solidFill>
                <a:srgbClr val="2E75B5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buClr>
                <a:srgbClr val="2E75B5"/>
              </a:buClr>
              <a:buSzPct val="146666"/>
              <a:buNone/>
            </a:pPr>
            <a:r>
              <a:rPr lang="pt-BR" dirty="0">
                <a:solidFill>
                  <a:srgbClr val="2E75B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258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24E1F-8BDC-86CC-E9A1-795167D2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10394"/>
            <a:ext cx="11413289" cy="771565"/>
          </a:xfrm>
        </p:spPr>
        <p:txBody>
          <a:bodyPr>
            <a:normAutofit/>
          </a:bodyPr>
          <a:lstStyle/>
          <a:p>
            <a:r>
              <a:rPr lang="pt-BR" sz="4000" dirty="0"/>
              <a:t>O conceito do evento: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ADEED1-C242-754F-8223-DF1BFB9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81959"/>
            <a:ext cx="11155680" cy="5376041"/>
          </a:xfrm>
        </p:spPr>
        <p:txBody>
          <a:bodyPr>
            <a:normAutofit/>
          </a:bodyPr>
          <a:lstStyle/>
          <a:p>
            <a:pPr algn="just"/>
            <a:r>
              <a:rPr lang="pt-BR" sz="2800" b="1" dirty="0" err="1"/>
              <a:t>EcoHack</a:t>
            </a:r>
            <a:r>
              <a:rPr lang="pt-BR" sz="2800" b="1" dirty="0"/>
              <a:t> IEMA: Codificando um Mundo Sustentável</a:t>
            </a:r>
            <a:r>
              <a:rPr lang="pt-BR" sz="2800" dirty="0"/>
              <a:t> tem uma sonoridade moderna, digital e transmite exatamente a ideia de "mão na massa" para resolver problemas ambientais. </a:t>
            </a:r>
          </a:p>
          <a:p>
            <a:pPr algn="just"/>
            <a:r>
              <a:rPr lang="pt-BR" sz="2800" dirty="0"/>
              <a:t>O </a:t>
            </a:r>
            <a:r>
              <a:rPr lang="pt-BR" sz="2800" b="1" dirty="0" err="1"/>
              <a:t>EcoHack</a:t>
            </a:r>
            <a:r>
              <a:rPr lang="pt-BR" sz="2800" dirty="0"/>
              <a:t> não é apenas sobre programar software, mas sobre </a:t>
            </a:r>
            <a:r>
              <a:rPr lang="pt-BR" sz="2800" b="1" dirty="0"/>
              <a:t>"hackear" problemas reais</a:t>
            </a:r>
            <a:r>
              <a:rPr lang="pt-BR" sz="2800" dirty="0"/>
              <a:t> da nossa região. É usar o pensamento lógico e a criatividade para criar soluções que preservem a riqueza natural de Carolina.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828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B82EB-3899-C5BF-9421-21183003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Premiação e notas: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A4486F-6326-5EC4-AF84-D3C12A7C9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/>
              <a:t>Notas: entre 0 a 5 pontos na AV2 do primeiro período.</a:t>
            </a:r>
          </a:p>
          <a:p>
            <a:r>
              <a:rPr lang="pt-BR" sz="2800" dirty="0"/>
              <a:t>Premiação: </a:t>
            </a:r>
          </a:p>
          <a:p>
            <a:pPr marL="0" indent="0">
              <a:buNone/>
            </a:pPr>
            <a:r>
              <a:rPr lang="pt-BR" sz="2800" dirty="0"/>
              <a:t>1º Lugar de cada categoria – $ 130,00</a:t>
            </a:r>
          </a:p>
          <a:p>
            <a:pPr marL="0" indent="0">
              <a:buNone/>
            </a:pPr>
            <a:r>
              <a:rPr lang="pt-BR" sz="2800" dirty="0"/>
              <a:t>2º Lugar de cada categoria - $ 100,00 </a:t>
            </a:r>
            <a:br>
              <a:rPr lang="pt-BR" sz="2800" dirty="0"/>
            </a:br>
            <a:r>
              <a:rPr lang="pt-BR" sz="2800" dirty="0"/>
              <a:t>3º Lugar de cada categoria - $50,00  </a:t>
            </a:r>
          </a:p>
          <a:p>
            <a:pPr marL="0" indent="0">
              <a:buNone/>
            </a:pPr>
            <a:r>
              <a:rPr lang="pt-BR" sz="2800" dirty="0"/>
              <a:t>4º Lugar de cada categoria – Certificado / Menção Honrosa. 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39191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87F7E-FF61-0C19-5DB1-831104A96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62151"/>
            <a:ext cx="11155680" cy="819808"/>
          </a:xfrm>
        </p:spPr>
        <p:txBody>
          <a:bodyPr/>
          <a:lstStyle/>
          <a:p>
            <a:r>
              <a:rPr lang="pt-BR" dirty="0"/>
              <a:t>Critérios de Avaliação: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0D63BE-B833-730E-554B-ACEA5FA38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81959"/>
            <a:ext cx="11155680" cy="4863977"/>
          </a:xfrm>
        </p:spPr>
        <p:txBody>
          <a:bodyPr>
            <a:normAutofit/>
          </a:bodyPr>
          <a:lstStyle/>
          <a:p>
            <a:pPr marL="69850" lvl="0" indent="0" algn="just">
              <a:lnSpc>
                <a:spcPct val="100000"/>
              </a:lnSpc>
              <a:spcBef>
                <a:spcPts val="0"/>
              </a:spcBef>
              <a:buClr>
                <a:srgbClr val="2E75B5"/>
              </a:buClr>
              <a:buSzPts val="2500"/>
              <a:buNone/>
            </a:pPr>
            <a:r>
              <a:rPr lang="pt-BR" sz="2800" dirty="0"/>
              <a:t>A avaliação da banca se dará a partir dos seguintes critérios:</a:t>
            </a:r>
            <a:br>
              <a:rPr lang="pt-BR" sz="2800" dirty="0"/>
            </a:br>
            <a:endParaRPr lang="pt-BR" sz="2800" dirty="0"/>
          </a:p>
          <a:p>
            <a:pPr marL="69850" lvl="0" indent="0" algn="just">
              <a:lnSpc>
                <a:spcPct val="100000"/>
              </a:lnSpc>
              <a:spcBef>
                <a:spcPts val="0"/>
              </a:spcBef>
              <a:buClr>
                <a:srgbClr val="2E75B5"/>
              </a:buClr>
              <a:buSzPts val="2500"/>
              <a:buNone/>
            </a:pPr>
            <a:r>
              <a:rPr lang="pt-BR" sz="2800" dirty="0"/>
              <a:t>I. </a:t>
            </a: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Criar materiais visuais e multimídia (cartazes, vídeos, infográficos) que sejam atraentes e informativos.</a:t>
            </a:r>
          </a:p>
          <a:p>
            <a:pPr marL="69850" lvl="0" indent="0" algn="just">
              <a:lnSpc>
                <a:spcPct val="100000"/>
              </a:lnSpc>
              <a:buClr>
                <a:srgbClr val="2E75B5"/>
              </a:buClr>
              <a:buSzPts val="2500"/>
              <a:buNone/>
            </a:pP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II. Utilizar gráficos, imagens e slogans que chamem a atenção e incentivem a participação.</a:t>
            </a:r>
          </a:p>
          <a:p>
            <a:pPr marL="69850" lvl="0" indent="0" algn="just">
              <a:lnSpc>
                <a:spcPct val="100000"/>
              </a:lnSpc>
              <a:buClr>
                <a:srgbClr val="2E75B5"/>
              </a:buClr>
              <a:buSzPts val="2500"/>
              <a:buNone/>
            </a:pP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III. Criar uma simulação interativa (digital ou física) que permita a visualização dos processos e efeitos envolvidos.</a:t>
            </a:r>
          </a:p>
          <a:p>
            <a:pPr marL="69850" lvl="0" indent="0" algn="just">
              <a:lnSpc>
                <a:spcPct val="100000"/>
              </a:lnSpc>
              <a:buClr>
                <a:srgbClr val="2E75B5"/>
              </a:buClr>
              <a:buSzPts val="2500"/>
              <a:buNone/>
            </a:pP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IV. Selecionar materiais que sejam duráveis, leves e sustentáveis.</a:t>
            </a:r>
          </a:p>
        </p:txBody>
      </p:sp>
    </p:spTree>
    <p:extLst>
      <p:ext uri="{BB962C8B-B14F-4D97-AF65-F5344CB8AC3E}">
        <p14:creationId xmlns:p14="http://schemas.microsoft.com/office/powerpoint/2010/main" val="169154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3B338-60AF-06D8-C278-615CE4D0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3D45E-C81D-FC8B-EDF7-D753E341F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62151"/>
            <a:ext cx="11155680" cy="819808"/>
          </a:xfrm>
        </p:spPr>
        <p:txBody>
          <a:bodyPr/>
          <a:lstStyle/>
          <a:p>
            <a:r>
              <a:rPr lang="pt-BR" dirty="0"/>
              <a:t>Critérios de Avaliação: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13E176-69F7-C367-15A6-30124063F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81959"/>
            <a:ext cx="11155680" cy="4863977"/>
          </a:xfrm>
        </p:spPr>
        <p:txBody>
          <a:bodyPr>
            <a:normAutofit fontScale="92500"/>
          </a:bodyPr>
          <a:lstStyle/>
          <a:p>
            <a:pPr marL="69850" lvl="0" indent="0" algn="just">
              <a:lnSpc>
                <a:spcPct val="100000"/>
              </a:lnSpc>
              <a:spcBef>
                <a:spcPts val="0"/>
              </a:spcBef>
              <a:buClr>
                <a:srgbClr val="2E75B5"/>
              </a:buClr>
              <a:buSzPts val="2500"/>
              <a:buNone/>
            </a:pP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V. Considerar o impacto ambiental e a viabilidade dos materiais escolhidos.</a:t>
            </a:r>
          </a:p>
          <a:p>
            <a:pPr marL="69850" lvl="0" indent="0" algn="just">
              <a:lnSpc>
                <a:spcPct val="100000"/>
              </a:lnSpc>
              <a:buClr>
                <a:srgbClr val="2E75B5"/>
              </a:buClr>
              <a:buSzPts val="2500"/>
              <a:buNone/>
            </a:pP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VI. Buscar a ORIGINALIDADE.</a:t>
            </a:r>
          </a:p>
          <a:p>
            <a:pPr marL="69850" lvl="0" indent="0" algn="just">
              <a:lnSpc>
                <a:spcPct val="100000"/>
              </a:lnSpc>
              <a:spcAft>
                <a:spcPts val="1000"/>
              </a:spcAft>
              <a:buClr>
                <a:srgbClr val="2E75B5"/>
              </a:buClr>
              <a:buSzPts val="2500"/>
              <a:buNone/>
            </a:pPr>
            <a:r>
              <a:rPr lang="pt-BR" sz="2800" dirty="0">
                <a:latin typeface="Lato"/>
                <a:ea typeface="Lato"/>
                <a:cs typeface="Lato"/>
                <a:sym typeface="Lato"/>
              </a:rPr>
              <a:t>VII. Clareza dos objetivos propostos.</a:t>
            </a:r>
          </a:p>
          <a:p>
            <a:pPr marL="69850" lvl="0" indent="0" algn="just">
              <a:lnSpc>
                <a:spcPct val="100000"/>
              </a:lnSpc>
              <a:spcAft>
                <a:spcPts val="1000"/>
              </a:spcAft>
              <a:buClr>
                <a:srgbClr val="2E75B5"/>
              </a:buClr>
              <a:buSzPts val="2500"/>
              <a:buNone/>
            </a:pPr>
            <a:r>
              <a:rPr lang="pt-BR" sz="2800" dirty="0"/>
              <a:t>VIII. Toda a equipe devidamente uniformizada (com o uniforme da instituição).</a:t>
            </a:r>
          </a:p>
          <a:p>
            <a:pPr marL="69850" lvl="0" indent="0" algn="just">
              <a:lnSpc>
                <a:spcPct val="100000"/>
              </a:lnSpc>
              <a:spcAft>
                <a:spcPts val="1000"/>
              </a:spcAft>
              <a:buClr>
                <a:srgbClr val="2E75B5"/>
              </a:buClr>
              <a:buSzPts val="2500"/>
              <a:buNone/>
            </a:pPr>
            <a:r>
              <a:rPr lang="pt-BR" sz="2800" dirty="0"/>
              <a:t>IX. Respeito ao tempo de apresentação cronometrado. (7 min. Apresentação e 3 min. Para perguntas da banca)</a:t>
            </a:r>
          </a:p>
          <a:p>
            <a:pPr marL="69850" lvl="0" indent="0" algn="just">
              <a:lnSpc>
                <a:spcPct val="100000"/>
              </a:lnSpc>
              <a:spcAft>
                <a:spcPts val="1000"/>
              </a:spcAft>
              <a:buClr>
                <a:srgbClr val="2E75B5"/>
              </a:buClr>
              <a:buSzPts val="2500"/>
              <a:buNone/>
            </a:pPr>
            <a:r>
              <a:rPr lang="pt-BR" sz="2800" dirty="0"/>
              <a:t>Obs. A decoração do stand e a entrega de lembrancinhas e souvenires não contará pontos.</a:t>
            </a:r>
          </a:p>
        </p:txBody>
      </p:sp>
    </p:spTree>
    <p:extLst>
      <p:ext uri="{BB962C8B-B14F-4D97-AF65-F5344CB8AC3E}">
        <p14:creationId xmlns:p14="http://schemas.microsoft.com/office/powerpoint/2010/main" val="345631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D7795-DE5A-6DCC-4400-57B5CB00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26282"/>
            <a:ext cx="11155680" cy="771564"/>
          </a:xfrm>
        </p:spPr>
        <p:txBody>
          <a:bodyPr/>
          <a:lstStyle/>
          <a:p>
            <a:r>
              <a:rPr lang="pt-BR" dirty="0"/>
              <a:t>Cronograma: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9165C-0BBC-9C4D-78AA-9540DFABF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897846"/>
            <a:ext cx="11155680" cy="5960154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11/02 – Apresentação oficial do evento.</a:t>
            </a:r>
          </a:p>
          <a:p>
            <a:pPr algn="just"/>
            <a:r>
              <a:rPr lang="pt-BR" sz="2800" dirty="0"/>
              <a:t>11/02 – Montagem e inscrições das equipes.</a:t>
            </a:r>
          </a:p>
          <a:p>
            <a:pPr algn="just"/>
            <a:r>
              <a:rPr lang="pt-BR" sz="2800" dirty="0"/>
              <a:t>12/02 a 06/03 – Levantamento de hipóteses, pesquisa e desenvolvimento, prototipagem e elaboração escrita da resolução do problema/desafio. (As reuniões em grupo deverão ocorrer nos horários disponíveis sem aulas “horários vagos”). </a:t>
            </a:r>
          </a:p>
          <a:p>
            <a:pPr algn="just"/>
            <a:r>
              <a:rPr lang="pt-BR" sz="2800" dirty="0"/>
              <a:t>09/03 – Entrega da escrita da resolução do problema para os supervisores do evento.</a:t>
            </a:r>
          </a:p>
          <a:p>
            <a:pPr algn="just"/>
            <a:r>
              <a:rPr lang="pt-BR" sz="2800" dirty="0"/>
              <a:t>09/03 a 16/03 – Correções (supervisores).</a:t>
            </a:r>
          </a:p>
          <a:p>
            <a:pPr algn="just"/>
            <a:r>
              <a:rPr lang="pt-BR" sz="2800" dirty="0"/>
              <a:t>16/03 a 30/03 – Finalização da prototipagem e apresentação.</a:t>
            </a:r>
          </a:p>
          <a:p>
            <a:pPr algn="just"/>
            <a:r>
              <a:rPr lang="pt-BR" sz="2800" dirty="0"/>
              <a:t>31/03 – Culminância do evento.</a:t>
            </a:r>
          </a:p>
        </p:txBody>
      </p:sp>
    </p:spTree>
    <p:extLst>
      <p:ext uri="{BB962C8B-B14F-4D97-AF65-F5344CB8AC3E}">
        <p14:creationId xmlns:p14="http://schemas.microsoft.com/office/powerpoint/2010/main" val="5774999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1027</TotalTime>
  <Words>515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Lato</vt:lpstr>
      <vt:lpstr>Trebuchet MS</vt:lpstr>
      <vt:lpstr>Wingdings 3</vt:lpstr>
      <vt:lpstr>Facetado</vt:lpstr>
      <vt:lpstr>Apresentação do PowerPoint</vt:lpstr>
      <vt:lpstr>Problemáticas/Desafios:</vt:lpstr>
      <vt:lpstr>O conceito do evento:</vt:lpstr>
      <vt:lpstr>Premiação e notas:</vt:lpstr>
      <vt:lpstr>Critérios de Avaliação:</vt:lpstr>
      <vt:lpstr>Critérios de Avaliação:</vt:lpstr>
      <vt:lpstr>Cronograma: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auricelia queiroz lima</dc:creator>
  <cp:lastModifiedBy>auricelia queiroz lima</cp:lastModifiedBy>
  <cp:revision>3</cp:revision>
  <dcterms:created xsi:type="dcterms:W3CDTF">2026-02-10T19:36:26Z</dcterms:created>
  <dcterms:modified xsi:type="dcterms:W3CDTF">2026-02-11T12:43:40Z</dcterms:modified>
</cp:coreProperties>
</file>